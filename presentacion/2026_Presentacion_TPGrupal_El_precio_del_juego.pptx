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61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4864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973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2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MÉTODOS CUANTITATIVOS  ·  FCE — UBA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0" b="1" dirty="0">
                <a:solidFill>
                  <a:srgbClr val="F7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precio </a:t>
            </a:r>
            <a:r>
              <a:rPr lang="en-US" sz="7000" b="1" dirty="0">
                <a:solidFill>
                  <a:srgbClr val="E2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juego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E9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¿Riqueza nacional o inversión deportiva? Qué explica realmente el rendimiento de las 48 selecciones clasificadas a la Copa del Mundo 2026.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4343400"/>
            <a:ext cx="2487168" cy="1078992"/>
          </a:xfrm>
          <a:prstGeom prst="rect">
            <a:avLst/>
          </a:prstGeom>
          <a:solidFill>
            <a:srgbClr val="6A1530"/>
          </a:solidFill>
          <a:ln w="9525">
            <a:solidFill>
              <a:srgbClr val="9A36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77240" y="44439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49560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D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4343400"/>
            <a:ext cx="2487168" cy="1078992"/>
          </a:xfrm>
          <a:prstGeom prst="rect">
            <a:avLst/>
          </a:prstGeom>
          <a:solidFill>
            <a:srgbClr val="6A1530"/>
          </a:solidFill>
          <a:ln w="9525">
            <a:solidFill>
              <a:srgbClr val="9A36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429000" y="44439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49560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D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4343400"/>
            <a:ext cx="2487168" cy="1078992"/>
          </a:xfrm>
          <a:prstGeom prst="rect">
            <a:avLst/>
          </a:prstGeom>
          <a:solidFill>
            <a:srgbClr val="6A1530"/>
          </a:solidFill>
          <a:ln w="9525">
            <a:solidFill>
              <a:srgbClr val="9A36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080760" y="44439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0,77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80760" y="49560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D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↔ FIFA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4343400"/>
            <a:ext cx="2487168" cy="1078992"/>
          </a:xfrm>
          <a:prstGeom prst="rect">
            <a:avLst/>
          </a:prstGeom>
          <a:solidFill>
            <a:srgbClr val="6A1530"/>
          </a:solidFill>
          <a:ln w="9525">
            <a:solidFill>
              <a:srgbClr val="9A36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732520" y="44439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0,629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32520" y="49560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D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expl.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7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Gómez   ·   Fernando Morichetti   ·   Carla Garibotti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6245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C9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Grupal  ·  1er Cuatrimestre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112" y="1645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b="1" dirty="0">
                <a:solidFill>
                  <a:srgbClr val="F1E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PLANTEO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19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fijo y lo 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modificable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clubes, las selecciones no compran talento en un mercado abierto: dependen del que cada país logra </a:t>
            </a:r>
            <a:r>
              <a:rPr lang="en-US" sz="145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</a:t>
            </a:r>
            <a:r>
              <a:rPr lang="en-US" sz="14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económicas y demográficas de un país son </a:t>
            </a:r>
            <a:r>
              <a:rPr lang="en-US" sz="1450" b="1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estables en el tiempo</a:t>
            </a:r>
            <a:r>
              <a:rPr lang="en-US" sz="14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 fueran el motor del rendimiento, el éxito estaría casi </a:t>
            </a:r>
            <a:r>
              <a:rPr lang="en-US" sz="1450" b="1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predeterminado</a:t>
            </a:r>
            <a:r>
              <a:rPr lang="en-US" sz="14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 no lo son, queda margen para la gestión y la inversión.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4297679"/>
            <a:ext cx="5806440" cy="2011681"/>
          </a:xfrm>
          <a:prstGeom prst="rect">
            <a:avLst/>
          </a:prstGeom>
          <a:solidFill>
            <a:srgbClr val="FBF7F4"/>
          </a:solidFill>
          <a:ln w="12700">
            <a:solidFill>
              <a:srgbClr val="E7DE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777240" y="4297680"/>
            <a:ext cx="82296" cy="2011680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051560" y="44988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4828032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s-AR" sz="1500" i="1" dirty="0">
                <a:solidFill>
                  <a:srgbClr val="2319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¿el rendimiento deportivo de una selección nacional (medido como el puntaje FIFA previo al torneo) puede explicarse a partir del nivel de desarrollo económico y demográfico de su país? Y si no es así, ¿qué variables (del país o del propio plantel) sí muestran relación con ese rendimiento? 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1828800"/>
            <a:ext cx="45720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DF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6903720" y="1828800"/>
            <a:ext cx="4572000" cy="64008"/>
          </a:xfrm>
          <a:prstGeom prst="rect">
            <a:avLst/>
          </a:prstGeom>
          <a:solidFill>
            <a:srgbClr val="8E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paises.csv  ·  Kaggle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2432304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selecciones del Mundial 2026. Valor de mercado del plantel, puntaje y ranking FIFA, edad del equipo, historial competitivo.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3639312"/>
            <a:ext cx="45720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EDF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6903720" y="3639312"/>
            <a:ext cx="4572000" cy="64008"/>
          </a:xfrm>
          <a:prstGeom prst="rect">
            <a:avLst/>
          </a:prstGeom>
          <a:solidFill>
            <a:srgbClr val="8E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7132320" y="38221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country_info.csv  ·  SimpleMaps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4242816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países. PBI, población, densidad, idioma, religión, continente, </a:t>
            </a:r>
            <a:r>
              <a:rPr lang="en-US" sz="1200" dirty="0" err="1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r>
              <a:rPr lang="en-US" sz="12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r>
              <a:rPr lang="en-US" sz="12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(entre </a:t>
            </a:r>
            <a:r>
              <a:rPr lang="en-US" sz="1200" dirty="0" err="1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</a:t>
            </a:r>
            <a:r>
              <a:rPr lang="en-US" sz="12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112" y="1645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b="1" dirty="0">
                <a:solidFill>
                  <a:srgbClr val="F1E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NUMÉRICAS  ·  FIGURA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19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¿Predice la 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riqueza?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5301863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 · Matriz de correlación de Pearson entre el puntaje FIFA, el valor del plantel y los indicadores del país.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00100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6E5E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</a:t>
            </a:r>
            <a:r>
              <a:rPr lang="en-US" sz="54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0,77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028432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plantel ↔ puntaje FIFA: la única asociación fuerte.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28432" y="35204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PBI, población, densidad y PBI per cápita: sin asociación relevante con el rendimiento.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prosperidad de una nación no anticipa el desempeño de su selección.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lo hace el capital deportivo concentrado en el plantel.</a:t>
            </a:r>
            <a:endParaRPr lang="en-US" sz="1250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14B06D04-2CAC-E1C6-BA2D-6AA4E7DFDC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8318" y="1855787"/>
            <a:ext cx="5817870" cy="3329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112" y="1645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b="1" dirty="0">
                <a:solidFill>
                  <a:srgbClr val="F1E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  ·  FIGURAS 2–3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19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dónde viene el 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112264"/>
            <a:ext cx="146304" cy="146304"/>
          </a:xfrm>
          <a:prstGeom prst="ellipse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Sudamérica y Europa</a:t>
            </a: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concentran las medianas más altas de puntaje.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191256"/>
            <a:ext cx="146304" cy="146304"/>
          </a:xfrm>
          <a:prstGeom prst="ellipse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97280" y="309067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hispana</a:t>
            </a: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destaca por idioma — refuerza la lectura por continente.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70248"/>
            <a:ext cx="146304" cy="146304"/>
          </a:xfrm>
          <a:prstGeom prst="ellipse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97280" y="4169664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“cultura del fútbol”</a:t>
            </a: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subyacente, no capturada por ninguna variable económica.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i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Religión:  </a:t>
            </a:r>
            <a:r>
              <a:rPr lang="en-US" sz="11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señal propia. Los participantes son casi todos cristianos, islámicos o sin religión; la variable se solapa con el continente.</a:t>
            </a:r>
            <a:endParaRPr lang="en-US" sz="1150" dirty="0"/>
          </a:p>
        </p:txBody>
      </p:sp>
      <p:pic>
        <p:nvPicPr>
          <p:cNvPr id="12" name="Image 0" descr="/mnt/project/boxplotpuntajefifacontin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10512"/>
            <a:ext cx="5980176" cy="19933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0" y="382219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 · Puntaje FIFA por continente.</a:t>
            </a:r>
            <a:endParaRPr lang="en-US" sz="950" dirty="0"/>
          </a:p>
        </p:txBody>
      </p:sp>
      <p:pic>
        <p:nvPicPr>
          <p:cNvPr id="14" name="Image 1" descr="/mnt/project/boxplotpuntajefifaidio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51376"/>
            <a:ext cx="5980176" cy="19933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616305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 · Puntaje FIFA por idioma (idiomas en 3+ países).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112" y="1645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b="1" dirty="0">
                <a:solidFill>
                  <a:srgbClr val="F1E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Y SU RENDIMIENTO  ·  FIGURAS 6–7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19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curva del 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dinero</a:t>
            </a:r>
            <a:endParaRPr lang="en-US" sz="4000" dirty="0"/>
          </a:p>
        </p:txBody>
      </p:sp>
      <p:pic>
        <p:nvPicPr>
          <p:cNvPr id="5" name="Image 0" descr="/mnt/project/ajuste_4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5720486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1813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6–7 · Valor del plantel (miles de millones de €) vs. puntaje FIFA, con los cuatro modelos.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0" y="18745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es cóncava: el puntaje crece con la inversión, pero a un ritmo que se atenúa. Comparamos cuatro modelos por su R².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971800"/>
          <a:ext cx="4297680" cy="21031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8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Cuadrático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8E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1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231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1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231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1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Logarítmico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231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0" y="5349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ajuste cuadrático gana</a:t>
            </a: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explica el 62,9 % de la varianza del puntaje FIFA.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112" y="1645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b="1" dirty="0">
                <a:solidFill>
                  <a:srgbClr val="F1E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DIFERENCIAL  ·  FIGURA 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19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Rendimientos 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decrecientes</a:t>
            </a:r>
            <a:endParaRPr lang="en-US" sz="4000" dirty="0"/>
          </a:p>
        </p:txBody>
      </p:sp>
      <p:pic>
        <p:nvPicPr>
          <p:cNvPr id="5" name="Image 0" descr="/mnt/project/segunda_derivada_cuadrat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9567512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8 · Modelo cuadrático f(x) con su primera y segunda derivada.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" y="5212080"/>
            <a:ext cx="10634472" cy="566928"/>
          </a:xfrm>
          <a:prstGeom prst="rect">
            <a:avLst/>
          </a:prstGeom>
          <a:solidFill>
            <a:srgbClr val="FBF7F4"/>
          </a:solidFill>
          <a:ln w="9525">
            <a:solidFill>
              <a:srgbClr val="E7DE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E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−235,37·x² + 612,27·x + 1.439,44      </a:t>
            </a:r>
            <a:r>
              <a:rPr lang="en-US" sz="1350" dirty="0">
                <a:solidFill>
                  <a:srgbClr val="2319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f′(x) = −470,74·x + 612,27      f″(x) = −470,74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594360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  x* ≈ €1,30 B
</a:t>
            </a:r>
            <a:r>
              <a:rPr lang="en-US" sz="11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previsto ≈ 1.838 pts FIFA (f″&lt;0 lo confirma).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361688" y="594360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eficiencia
</a:t>
            </a:r>
            <a:r>
              <a:rPr lang="en-US" sz="11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vértice, invertir deja de traducirse en mejoras.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46136" y="594360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ya alcanzado
</a:t>
            </a:r>
            <a:r>
              <a:rPr lang="en-US" sz="11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Francia e Inglaterra operan prácticamente sobre ese límite.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112" y="1645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b="1" dirty="0">
                <a:solidFill>
                  <a:srgbClr val="F1E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RESIDUOS  ·  FIGURA 9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19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Quién rinde</a:t>
            </a:r>
            <a:r>
              <a:rPr lang="en-US" sz="4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4000" b="1" dirty="0" err="1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de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 err="1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</a:t>
            </a:r>
            <a:endParaRPr lang="en-US" sz="4000" dirty="0"/>
          </a:p>
        </p:txBody>
      </p:sp>
      <p:pic>
        <p:nvPicPr>
          <p:cNvPr id="5" name="Image 0" descr="/mnt/project/modelo_cuadratico_vert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6766560" cy="39037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824025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 · Modelo con el vértice y los residuos de los casos más destacados.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1812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SOBRE-RENDIMIENTO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18120" y="2157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0" y="21579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+161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25420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0" y="2542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+159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1812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Irán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0" y="29260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18120" y="3310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 UU.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0" y="3310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+137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18120" y="36941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Croacia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0" y="36941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126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SUB-RENDIMIENTO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012680" y="21579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247120" y="21579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−188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12680" y="2542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Haití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247120" y="2542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−171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012680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Suecia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247120" y="29260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−170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012680" y="3310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Zelanda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247120" y="3310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−168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012680" y="36941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Curaçao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247120" y="36941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−160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818120" y="4754880"/>
            <a:ext cx="4069080" cy="1298447"/>
          </a:xfrm>
          <a:prstGeom prst="rect">
            <a:avLst/>
          </a:prstGeom>
          <a:solidFill>
            <a:srgbClr val="FBF7F4"/>
          </a:solidFill>
          <a:ln w="9525">
            <a:solidFill>
              <a:srgbClr val="E7DE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7"/>
          <p:cNvSpPr/>
          <p:nvPr/>
        </p:nvSpPr>
        <p:spPr>
          <a:xfrm>
            <a:off x="7818120" y="4754880"/>
            <a:ext cx="73152" cy="1298448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Text 28"/>
          <p:cNvSpPr/>
          <p:nvPr/>
        </p:nvSpPr>
        <p:spPr>
          <a:xfrm>
            <a:off x="8065008" y="4864608"/>
            <a:ext cx="37033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7000"/>
              </a:lnSpc>
              <a:buNone/>
            </a:pPr>
            <a:r>
              <a:rPr lang="en-US" sz="120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lidera con +161 </a:t>
            </a:r>
            <a:r>
              <a:rPr lang="en-US" sz="120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(plantel de €575 M, el 44 % del de Inglaterra). Pero los mayores residuos negativos también son planteles de valor bajo: cuando la inversión es chica, el valor casi no discrimina y el modelo pierde poder.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A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112" y="1645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b="1" dirty="0">
                <a:solidFill>
                  <a:srgbClr val="973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2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7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</a:t>
            </a:r>
            <a:r>
              <a:rPr lang="en-US" sz="4200" b="1" dirty="0">
                <a:solidFill>
                  <a:srgbClr val="E2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veredicto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A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deportivo es independiente de las variables económicas del país: ninguna mostró correlación relevante. Lo que sí importa se reparte en dos hallazgos.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5120640" cy="2331720"/>
          </a:xfrm>
          <a:prstGeom prst="rect">
            <a:avLst/>
          </a:prstGeom>
          <a:solidFill>
            <a:srgbClr val="6A1530"/>
          </a:solidFill>
          <a:ln w="9525">
            <a:solidFill>
              <a:srgbClr val="9A36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051560" y="28529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del plantel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395020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fuerte con el puntaje FIFA (r ≈ 0,77). El mejor ajuste es cuadrático y cóncavo: invertir mejora, pero cada euro adicional aporta menos. Hay un techo de eficiencia cerca de €1,30 B.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08192" y="2697480"/>
            <a:ext cx="5120640" cy="2331720"/>
          </a:xfrm>
          <a:prstGeom prst="rect">
            <a:avLst/>
          </a:prstGeom>
          <a:solidFill>
            <a:srgbClr val="6A1530"/>
          </a:solidFill>
          <a:ln w="9525">
            <a:solidFill>
              <a:srgbClr val="9A365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382512" y="28529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82512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 y geografía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82512" y="395020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Continente e idioma se asocian al rendimiento — Sudamérica, Europa y los países hispanohablantes tienen medianas más altas. Probablemente capturan un mismo factor cultural compartido.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2578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2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síntesis:  </a:t>
            </a:r>
            <a:r>
              <a:rPr lang="en-US" sz="1300" dirty="0">
                <a:solidFill>
                  <a:srgbClr val="F7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combina una base relativamente fija —cultural y geográfica— con un componente modificable vía inversión en el plantel, sujeta a rendimientos decrecientes.  </a:t>
            </a:r>
            <a:r>
              <a:rPr lang="en-US" sz="1300" i="1" dirty="0">
                <a:solidFill>
                  <a:srgbClr val="C9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el modelo explica el 62,9 % de la varianza y pierde poder en el extremo de baja inversión.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0112" y="1645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b="1" dirty="0">
                <a:solidFill>
                  <a:srgbClr val="F1E2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METODOLÓGICA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19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</a:t>
            </a:r>
            <a:r>
              <a:rPr lang="en-US" sz="40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hizo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212080" cy="3383280"/>
          </a:xfrm>
          <a:prstGeom prst="rect">
            <a:avLst/>
          </a:prstGeom>
          <a:solidFill>
            <a:srgbClr val="FBF7F4"/>
          </a:solidFill>
          <a:ln w="12700">
            <a:solidFill>
              <a:srgbClr val="E7DE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212080" cy="64008"/>
          </a:xfrm>
          <a:prstGeom prst="rect">
            <a:avLst/>
          </a:prstGeom>
          <a:solidFill>
            <a:srgbClr val="8E1F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DATOS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por merge (left join) de los dos datasets.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 nombres: codificación de Curaçao, homologación de RD Congo, réplica del Reino Unido para Inglaterra y Escocia.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manual del PBI de Curaçao y cálculo del PBI per cápita.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i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r>
              <a:rPr lang="en-US" sz="11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Matplotlib · Seaborn · SciPy · </a:t>
            </a:r>
            <a:r>
              <a:rPr lang="en-US" sz="1150" i="1" dirty="0" err="1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</a:t>
            </a:r>
            <a:r>
              <a:rPr lang="en-US" sz="1150" i="1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965960"/>
            <a:ext cx="5212080" cy="3383280"/>
          </a:xfrm>
          <a:prstGeom prst="rect">
            <a:avLst/>
          </a:prstGeom>
          <a:solidFill>
            <a:srgbClr val="FBF7F4"/>
          </a:solidFill>
          <a:ln w="12700">
            <a:solidFill>
              <a:srgbClr val="E7DE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6199632" y="1965960"/>
            <a:ext cx="5212080" cy="64008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428232" y="2176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ROL DE LA IA — Y SU LÍMITE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25786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asistió en tareas acotadas: sugerir y comparar los modelos, calcular las derivadas con SymPy e interpretar su significado económico.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28232" y="3703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clave: auditar críticamente. </a:t>
            </a: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sospechar que Argentina era un outlier aislado, la IA reforzó ese sesgo con teorías; al verificarlo con los datos, resultó </a:t>
            </a:r>
            <a:r>
              <a:rPr lang="en-US" sz="1250" b="1" i="1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250" dirty="0">
                <a:solidFill>
                  <a:srgbClr val="231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serlo.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5806440"/>
            <a:ext cx="10634472" cy="0"/>
          </a:xfrm>
          <a:prstGeom prst="line">
            <a:avLst/>
          </a:prstGeom>
          <a:noFill/>
          <a:ln w="12700">
            <a:solidFill>
              <a:srgbClr val="E7DED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777240" y="598932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E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github.com/gleo1973/tp-laboratorio-mcag-1c2026</a:t>
            </a:r>
            <a:r>
              <a:rPr lang="en-US" sz="1150" dirty="0">
                <a:solidFill>
                  <a:srgbClr val="6E5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Gómez · Morichetti · Garibotti  ·  Laboratorio de Métodos Cuantitativos · FCE–UBA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1084</Words>
  <Application>Microsoft Office PowerPoint</Application>
  <PresentationFormat>Panorámica</PresentationFormat>
  <Paragraphs>126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precio del juego — Mundial 2026</dc:title>
  <dc:subject>PptxGenJS Presentation</dc:subject>
  <dc:creator>Gómez · Morichetti · Garibotti</dc:creator>
  <cp:lastModifiedBy>Carla Garibotti</cp:lastModifiedBy>
  <cp:revision>2</cp:revision>
  <dcterms:created xsi:type="dcterms:W3CDTF">2026-06-05T15:03:45Z</dcterms:created>
  <dcterms:modified xsi:type="dcterms:W3CDTF">2026-06-05T15:12:48Z</dcterms:modified>
</cp:coreProperties>
</file>