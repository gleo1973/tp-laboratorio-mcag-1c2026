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63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91355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A1A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55280" y="-548640"/>
            <a:ext cx="4206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3000" b="1" dirty="0">
                <a:solidFill>
                  <a:srgbClr val="9730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48</a:t>
            </a:r>
            <a:endParaRPr lang="en-US" sz="230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300" dirty="0">
                <a:solidFill>
                  <a:srgbClr val="E2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DE MÉTODOS CUANTITATIVOS  ·  FCE — UBA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731520" y="141732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0" b="1" dirty="0">
                <a:solidFill>
                  <a:srgbClr val="F7EF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precio </a:t>
            </a:r>
            <a:r>
              <a:rPr lang="en-US" sz="7000" b="1" dirty="0">
                <a:solidFill>
                  <a:srgbClr val="E2B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 juego</a:t>
            </a:r>
            <a:endParaRPr lang="en-US" sz="7000" dirty="0"/>
          </a:p>
        </p:txBody>
      </p:sp>
      <p:sp>
        <p:nvSpPr>
          <p:cNvPr id="5" name="Text 3"/>
          <p:cNvSpPr/>
          <p:nvPr/>
        </p:nvSpPr>
        <p:spPr>
          <a:xfrm>
            <a:off x="777240" y="297180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50" dirty="0">
                <a:solidFill>
                  <a:srgbClr val="E9D7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¿Riqueza nacional o inversión deportiva? Qué explica realmente el rendimiento de las 48 selecciones clasificadas a la Copa del Mundo 2026.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2487168" cy="1078992"/>
          </a:xfrm>
          <a:prstGeom prst="rect">
            <a:avLst/>
          </a:prstGeom>
          <a:solidFill>
            <a:srgbClr val="6A1530"/>
          </a:solidFill>
          <a:ln w="9525">
            <a:solidFill>
              <a:srgbClr val="9A3651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7" name="Text 5"/>
          <p:cNvSpPr/>
          <p:nvPr/>
        </p:nvSpPr>
        <p:spPr>
          <a:xfrm>
            <a:off x="777240" y="4443984"/>
            <a:ext cx="2487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2B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48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77240" y="4956048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kern="0" spc="100" dirty="0">
                <a:solidFill>
                  <a:srgbClr val="D9C2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selecciones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29000" y="4343400"/>
            <a:ext cx="2487168" cy="1078992"/>
          </a:xfrm>
          <a:prstGeom prst="rect">
            <a:avLst/>
          </a:prstGeom>
          <a:solidFill>
            <a:srgbClr val="6A1530"/>
          </a:solidFill>
          <a:ln w="9525">
            <a:solidFill>
              <a:srgbClr val="9A3651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0" name="Text 8"/>
          <p:cNvSpPr/>
          <p:nvPr/>
        </p:nvSpPr>
        <p:spPr>
          <a:xfrm>
            <a:off x="3429000" y="4443984"/>
            <a:ext cx="2487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2B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253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429000" y="4956048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kern="0" spc="100" dirty="0">
                <a:solidFill>
                  <a:srgbClr val="D9C2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países base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80760" y="4343400"/>
            <a:ext cx="2487168" cy="1078992"/>
          </a:xfrm>
          <a:prstGeom prst="rect">
            <a:avLst/>
          </a:prstGeom>
          <a:solidFill>
            <a:srgbClr val="6A1530"/>
          </a:solidFill>
          <a:ln w="9525">
            <a:solidFill>
              <a:srgbClr val="9A3651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3" name="Text 11"/>
          <p:cNvSpPr/>
          <p:nvPr/>
        </p:nvSpPr>
        <p:spPr>
          <a:xfrm>
            <a:off x="6080760" y="4443984"/>
            <a:ext cx="2487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2B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 = 0,76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080760" y="4956048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kern="0" spc="100" dirty="0">
                <a:solidFill>
                  <a:srgbClr val="D9C2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↔ FIFA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732520" y="4343400"/>
            <a:ext cx="2487168" cy="1078992"/>
          </a:xfrm>
          <a:prstGeom prst="rect">
            <a:avLst/>
          </a:prstGeom>
          <a:solidFill>
            <a:srgbClr val="6A1530"/>
          </a:solidFill>
          <a:ln w="9525">
            <a:solidFill>
              <a:srgbClr val="9A3651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6" name="Text 14"/>
          <p:cNvSpPr/>
          <p:nvPr/>
        </p:nvSpPr>
        <p:spPr>
          <a:xfrm>
            <a:off x="8732520" y="4443984"/>
            <a:ext cx="2487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2B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R² = 0,629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732520" y="4956048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kern="0" spc="100" dirty="0">
                <a:solidFill>
                  <a:srgbClr val="D9C2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varianza expl.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77240" y="5897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7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Leonardo Gómez   ·   Fernando Morichetti   ·   Carla Garibotti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77240" y="624535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kern="0" spc="100" dirty="0">
                <a:solidFill>
                  <a:srgbClr val="C9AE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Práctico Grupal  ·  1.er Cuatrimestre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40112" y="164592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600" b="1" dirty="0">
                <a:solidFill>
                  <a:srgbClr val="F1E2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00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77724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30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PLANTEO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2319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 fijo y lo </a:t>
            </a:r>
            <a:r>
              <a:rPr lang="en-US" sz="4000" b="1" dirty="0">
                <a:solidFill>
                  <a:srgbClr val="8E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modificable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77240" y="1783080"/>
            <a:ext cx="5806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450" dirty="0">
                <a:solidFill>
                  <a:srgbClr val="231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diferencia de los clubes, las selecciones no compran talento en un mercado abierto: dependen del que cada país logra </a:t>
            </a:r>
            <a:r>
              <a:rPr lang="en-US" sz="1450" b="1" dirty="0">
                <a:solidFill>
                  <a:srgbClr val="8E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formar</a:t>
            </a:r>
            <a:r>
              <a:rPr lang="en-US" sz="1450" dirty="0">
                <a:solidFill>
                  <a:srgbClr val="231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77240" y="2697480"/>
            <a:ext cx="5806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450" dirty="0">
                <a:solidFill>
                  <a:srgbClr val="231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variables económicas y demográficas de un país son </a:t>
            </a:r>
            <a:r>
              <a:rPr lang="en-US" sz="1450" b="1" dirty="0">
                <a:solidFill>
                  <a:srgbClr val="231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estables en el tiempo</a:t>
            </a:r>
            <a:r>
              <a:rPr lang="en-US" sz="1450" dirty="0">
                <a:solidFill>
                  <a:srgbClr val="231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Si fueran el motor del rendimiento, el éxito estaría casi </a:t>
            </a:r>
            <a:r>
              <a:rPr lang="en-US" sz="1450" b="1" dirty="0">
                <a:solidFill>
                  <a:srgbClr val="231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predeterminado</a:t>
            </a:r>
            <a:r>
              <a:rPr lang="en-US" sz="1450" dirty="0">
                <a:solidFill>
                  <a:srgbClr val="231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Si no lo son, queda margen para la gestión y la inversión.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77240" y="4297679"/>
            <a:ext cx="5806440" cy="2094155"/>
          </a:xfrm>
          <a:prstGeom prst="rect">
            <a:avLst/>
          </a:prstGeom>
          <a:solidFill>
            <a:srgbClr val="FBF7F4"/>
          </a:solidFill>
          <a:ln w="12700">
            <a:solidFill>
              <a:srgbClr val="E7DEDF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8" name="Shape 6"/>
          <p:cNvSpPr/>
          <p:nvPr/>
        </p:nvSpPr>
        <p:spPr>
          <a:xfrm>
            <a:off x="777240" y="4297680"/>
            <a:ext cx="91440" cy="2094154"/>
          </a:xfrm>
          <a:prstGeom prst="rect">
            <a:avLst/>
          </a:prstGeom>
          <a:solidFill>
            <a:srgbClr val="B8862B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9" name="Text 7"/>
          <p:cNvSpPr/>
          <p:nvPr/>
        </p:nvSpPr>
        <p:spPr>
          <a:xfrm>
            <a:off x="1051560" y="449884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 INVESTIGACIÓN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51560" y="4828032"/>
            <a:ext cx="5349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s-ES" sz="1500" i="1" dirty="0">
                <a:solidFill>
                  <a:srgbClr val="2319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¿el rendimiento deportivo de una selección nacional (medido como el puntaje FIFA previo al torneo) puede explicarse a partir de variables económicas y demográficas de su país? Y si no es así, ¿qué variables (del país o del propio plantel) sí muestran relación con ese rendimiento? 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903720" y="1828800"/>
            <a:ext cx="457200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7DEDF"/>
            </a:solidFill>
            <a:prstDash val="solid"/>
          </a:ln>
          <a:effectLst>
            <a:outerShdw blurRad="1143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12" name="Shape 10"/>
          <p:cNvSpPr/>
          <p:nvPr/>
        </p:nvSpPr>
        <p:spPr>
          <a:xfrm>
            <a:off x="6903720" y="1828800"/>
            <a:ext cx="4572000" cy="64008"/>
          </a:xfrm>
          <a:prstGeom prst="rect">
            <a:avLst/>
          </a:prstGeom>
          <a:solidFill>
            <a:srgbClr val="8E1F3D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3" name="Text 11"/>
          <p:cNvSpPr/>
          <p:nvPr/>
        </p:nvSpPr>
        <p:spPr>
          <a:xfrm>
            <a:off x="7132320" y="201168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E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paises.csv  ·  Kaggle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132320" y="2432304"/>
            <a:ext cx="4160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231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selecciones del Mundial 2026. Valor de mercado del plantel, puntaje y ranking FIFA, edad del equipo, historial competitivo.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03720" y="3639312"/>
            <a:ext cx="457200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7DEDF"/>
            </a:solidFill>
            <a:prstDash val="solid"/>
          </a:ln>
          <a:effectLst>
            <a:outerShdw blurRad="1143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AR"/>
          </a:p>
        </p:txBody>
      </p:sp>
      <p:sp>
        <p:nvSpPr>
          <p:cNvPr id="16" name="Shape 14"/>
          <p:cNvSpPr/>
          <p:nvPr/>
        </p:nvSpPr>
        <p:spPr>
          <a:xfrm>
            <a:off x="6903720" y="3639312"/>
            <a:ext cx="4572000" cy="64008"/>
          </a:xfrm>
          <a:prstGeom prst="rect">
            <a:avLst/>
          </a:prstGeom>
          <a:solidFill>
            <a:srgbClr val="8E1F3D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7" name="Text 15"/>
          <p:cNvSpPr/>
          <p:nvPr/>
        </p:nvSpPr>
        <p:spPr>
          <a:xfrm>
            <a:off x="7132320" y="3822192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E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country_info.csv  ·  SimpleMaps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132320" y="4242816"/>
            <a:ext cx="4160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231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253 países. PBI y PBI per cápita, población, densidad, idioma, religión, continente, edad mediana.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903720" y="54864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8E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Vara común:  </a:t>
            </a:r>
            <a:r>
              <a:rPr lang="en-US" sz="1250" dirty="0">
                <a:solidFill>
                  <a:srgbClr val="231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puntaje FIFA previo al torneo. Integración por merge (left join) de ambas bases.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40112" y="164592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600" b="1" dirty="0">
                <a:solidFill>
                  <a:srgbClr val="F1E2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77724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30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NUMÉRICAS  ·  FIGURAS 1–3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2319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forma de los </a:t>
            </a:r>
            <a:r>
              <a:rPr lang="en-US" sz="4000" b="1" dirty="0">
                <a:solidFill>
                  <a:srgbClr val="8E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datos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77240" y="1810512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31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puntaje FIFA se distribuye de forma casi normal: la media ≈ la mediana, con pocos equipos en los extremos.</a:t>
            </a:r>
            <a:endParaRPr lang="en-US" sz="1300" dirty="0"/>
          </a:p>
        </p:txBody>
      </p:sp>
      <p:pic>
        <p:nvPicPr>
          <p:cNvPr id="6" name="Image 0" descr="/mnt/project/distribucionpuntosfif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70048"/>
            <a:ext cx="3217025" cy="1965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465429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6E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Figura 1 · Distribución de los puntos FIFA.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777240" y="5074920"/>
            <a:ext cx="3383280" cy="1325880"/>
          </a:xfrm>
          <a:prstGeom prst="rect">
            <a:avLst/>
          </a:prstGeom>
          <a:solidFill>
            <a:srgbClr val="FBF7F4"/>
          </a:solidFill>
          <a:ln w="9525">
            <a:solidFill>
              <a:srgbClr val="E7DEDF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9" name="Shape 6"/>
          <p:cNvSpPr/>
          <p:nvPr/>
        </p:nvSpPr>
        <p:spPr>
          <a:xfrm>
            <a:off x="777240" y="5074920"/>
            <a:ext cx="73152" cy="1325880"/>
          </a:xfrm>
          <a:prstGeom prst="rect">
            <a:avLst/>
          </a:prstGeom>
          <a:solidFill>
            <a:srgbClr val="B8862B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0" name="Text 7"/>
          <p:cNvSpPr/>
          <p:nvPr/>
        </p:nvSpPr>
        <p:spPr>
          <a:xfrm>
            <a:off x="1005840" y="5175504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8E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cambio</a:t>
            </a:r>
            <a:r>
              <a:rPr lang="en-US" sz="1150" dirty="0">
                <a:solidFill>
                  <a:srgbClr val="231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las variables económicas muestran una fuerte asimetría </a:t>
            </a:r>
            <a:r>
              <a:rPr lang="en-US" sz="1150" dirty="0" err="1">
                <a:solidFill>
                  <a:srgbClr val="231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positiva</a:t>
            </a:r>
            <a:r>
              <a:rPr lang="en-US" sz="1150" dirty="0">
                <a:solidFill>
                  <a:srgbClr val="231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231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150" dirty="0">
                <a:solidFill>
                  <a:srgbClr val="231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231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</a:t>
            </a:r>
            <a:r>
              <a:rPr lang="en-US" sz="1150" dirty="0">
                <a:solidFill>
                  <a:srgbClr val="231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PBI, dominado por un único valor extremo. </a:t>
            </a:r>
          </a:p>
          <a:p>
            <a:pPr marL="0" indent="0">
              <a:lnSpc>
                <a:spcPct val="106000"/>
              </a:lnSpc>
              <a:buNone/>
            </a:pPr>
            <a:r>
              <a:rPr lang="en-US" sz="1150" dirty="0" err="1">
                <a:solidFill>
                  <a:srgbClr val="231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</a:t>
            </a:r>
            <a:r>
              <a:rPr lang="en-US" sz="1150" dirty="0">
                <a:solidFill>
                  <a:srgbClr val="231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 puntaje esté tan repartido sugiere, ya a priori, que la riqueza del país no ordena el rendimiento.</a:t>
            </a:r>
            <a:endParaRPr lang="en-US" sz="1150" dirty="0"/>
          </a:p>
        </p:txBody>
      </p:sp>
      <p:pic>
        <p:nvPicPr>
          <p:cNvPr id="11" name="Image 1" descr="/mnt/project/histogramas_valor_pbi_pp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4840" y="1810512"/>
            <a:ext cx="6626711" cy="20116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434840" y="384048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6E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Figura 2 · Valor del plantel, PBI y PBI per cápita.</a:t>
            </a:r>
            <a:endParaRPr lang="en-US" sz="950" dirty="0"/>
          </a:p>
        </p:txBody>
      </p:sp>
      <p:pic>
        <p:nvPicPr>
          <p:cNvPr id="13" name="Image 2" descr="/mnt/project/histogramas_poblacion_densidad_superfici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4840" y="4151376"/>
            <a:ext cx="6626711" cy="20116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434840" y="6181344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6E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Figura 3 · Población, densidad y superficie.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40112" y="164592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600" b="1" dirty="0">
                <a:solidFill>
                  <a:srgbClr val="F1E2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77724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30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NUMÉRICAS  ·  FIGURA 4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2319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¿Predice la </a:t>
            </a:r>
            <a:r>
              <a:rPr lang="en-US" sz="4000" b="1" dirty="0">
                <a:solidFill>
                  <a:srgbClr val="8E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riqueza?</a:t>
            </a:r>
            <a:endParaRPr lang="en-US" sz="4000" dirty="0"/>
          </a:p>
        </p:txBody>
      </p:sp>
      <p:pic>
        <p:nvPicPr>
          <p:cNvPr id="5" name="Image 0" descr="/mnt/project/heatmaprelacionvariablesnumeric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810513"/>
            <a:ext cx="6949440" cy="379242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" y="5733288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6E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Figura 4 · Matriz de correlación de Pearson entre el puntaje FIFA, el valor del plantel y los indicadores del país.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001000" y="18288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6E5E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 = </a:t>
            </a:r>
            <a:r>
              <a:rPr lang="en-US" sz="5400" b="1" dirty="0">
                <a:solidFill>
                  <a:srgbClr val="8E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0,76</a:t>
            </a:r>
            <a:endParaRPr lang="en-US" sz="5400" dirty="0"/>
          </a:p>
        </p:txBody>
      </p:sp>
      <p:sp>
        <p:nvSpPr>
          <p:cNvPr id="8" name="Text 5"/>
          <p:cNvSpPr/>
          <p:nvPr/>
        </p:nvSpPr>
        <p:spPr>
          <a:xfrm>
            <a:off x="8028432" y="27889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231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del plantel ↔ puntaje FIFA: la única asociación fuerte.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28432" y="3520440"/>
            <a:ext cx="3611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1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PBI, población, densidad y PBI per cápita: sin asociación relevante con el rendimiento.</a:t>
            </a:r>
            <a:endParaRPr lang="en-US" sz="1250" dirty="0"/>
          </a:p>
          <a:p>
            <a:pPr marL="177800" indent="-1778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1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prosperidad de una nación no anticipa el desempeño de su selección.</a:t>
            </a:r>
            <a:endParaRPr lang="en-US" sz="1250" dirty="0"/>
          </a:p>
          <a:p>
            <a:pPr marL="177800" indent="-1778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1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 lo hace el capital deportivo concentrado en el plantel.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40112" y="164592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600" b="1" dirty="0">
                <a:solidFill>
                  <a:srgbClr val="F1E2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77724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30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CATEGÓRICAS  ·  FIGURAS 5–6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2319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dónde viene el </a:t>
            </a:r>
            <a:r>
              <a:rPr lang="en-US" sz="4000" b="1" dirty="0">
                <a:solidFill>
                  <a:srgbClr val="8E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talento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822960" y="2112264"/>
            <a:ext cx="146304" cy="146304"/>
          </a:xfrm>
          <a:prstGeom prst="ellipse">
            <a:avLst/>
          </a:prstGeom>
          <a:solidFill>
            <a:srgbClr val="B8862B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6" name="Text 4"/>
          <p:cNvSpPr/>
          <p:nvPr/>
        </p:nvSpPr>
        <p:spPr>
          <a:xfrm>
            <a:off x="1097280" y="201168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8E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Sudamérica y Europa</a:t>
            </a:r>
            <a:r>
              <a:rPr lang="en-US" sz="1300" dirty="0">
                <a:solidFill>
                  <a:srgbClr val="231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concentran las medianas más altas de puntaje.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22960" y="3191256"/>
            <a:ext cx="146304" cy="146304"/>
          </a:xfrm>
          <a:prstGeom prst="ellipse">
            <a:avLst/>
          </a:prstGeom>
          <a:solidFill>
            <a:srgbClr val="B8862B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8" name="Text 6"/>
          <p:cNvSpPr/>
          <p:nvPr/>
        </p:nvSpPr>
        <p:spPr>
          <a:xfrm>
            <a:off x="1097280" y="3090672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8E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Habla hispana</a:t>
            </a:r>
            <a:r>
              <a:rPr lang="en-US" sz="1300" dirty="0">
                <a:solidFill>
                  <a:srgbClr val="231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 destaca por idioma — refuerza la lectura por continente.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4270248"/>
            <a:ext cx="146304" cy="146304"/>
          </a:xfrm>
          <a:prstGeom prst="ellipse">
            <a:avLst/>
          </a:prstGeom>
          <a:solidFill>
            <a:srgbClr val="B8862B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0" name="Text 8"/>
          <p:cNvSpPr/>
          <p:nvPr/>
        </p:nvSpPr>
        <p:spPr>
          <a:xfrm>
            <a:off x="1097280" y="4169664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8E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“cultura del fútbol”</a:t>
            </a:r>
            <a:r>
              <a:rPr lang="en-US" sz="1300" dirty="0">
                <a:solidFill>
                  <a:srgbClr val="231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subyacente, no capturada por ninguna variable económica.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5394960"/>
            <a:ext cx="3520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i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Religión:  </a:t>
            </a:r>
            <a:r>
              <a:rPr lang="en-US" sz="1150" i="1" dirty="0">
                <a:solidFill>
                  <a:srgbClr val="6E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señal propia. Los participantes son casi todos cristianos, islámicos o sin religión; la variable se solapa con el continente.</a:t>
            </a:r>
            <a:endParaRPr lang="en-US" sz="1150" dirty="0"/>
          </a:p>
        </p:txBody>
      </p:sp>
      <p:pic>
        <p:nvPicPr>
          <p:cNvPr id="12" name="Image 0" descr="/mnt/project/boxplotpuntajefifacontin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10512"/>
            <a:ext cx="5980176" cy="199339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4572000" y="3822192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6E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Figura 5 · Puntaje FIFA por continente.</a:t>
            </a:r>
            <a:endParaRPr lang="en-US" sz="950" dirty="0"/>
          </a:p>
        </p:txBody>
      </p:sp>
      <p:pic>
        <p:nvPicPr>
          <p:cNvPr id="14" name="Image 1" descr="/mnt/project/boxplotpuntajefifaidiom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4151376"/>
            <a:ext cx="5980176" cy="199339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572000" y="6163056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6E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Figura 6 · Puntaje FIFA por idioma (idiomas en 3+ países).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40112" y="164592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600" b="1" dirty="0">
                <a:solidFill>
                  <a:srgbClr val="F1E2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77724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30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INVERSIÓN Y SU RENDIMIENTO  ·  FIGURAS 8–9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2319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curva del </a:t>
            </a:r>
            <a:r>
              <a:rPr lang="en-US" sz="4000" b="1" dirty="0">
                <a:solidFill>
                  <a:srgbClr val="8E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dinero</a:t>
            </a:r>
            <a:endParaRPr lang="en-US" sz="4000" dirty="0"/>
          </a:p>
        </p:txBody>
      </p:sp>
      <p:pic>
        <p:nvPicPr>
          <p:cNvPr id="5" name="Image 0" descr="/mnt/project/ajuste_4_model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920240"/>
            <a:ext cx="5720486" cy="42062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" y="6181344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6E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Figuras 8–9 · Valor del plantel (miles de millones de €) vs. puntaje FIFA, con los cuatro modelos.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7315200" y="187452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31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relación es cóncava: el puntaje crece con la inversión, pero a un ritmo que se atenúa. Comparamos cuatro modelos por su R².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2971800"/>
          <a:ext cx="4297680" cy="2103120"/>
        </p:xfrm>
        <a:graphic>
          <a:graphicData uri="http://schemas.openxmlformats.org/drawingml/2006/table">
            <a:tbl>
              <a:tblPr/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7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1F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7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1F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8E1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Cuadrático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7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7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b="1" dirty="0">
                          <a:solidFill>
                            <a:srgbClr val="8E1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7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7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319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7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50" dirty="0">
                          <a:solidFill>
                            <a:srgbClr val="2319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7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319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Potencia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7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50" dirty="0">
                          <a:solidFill>
                            <a:srgbClr val="2319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7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319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Logarítmico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7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50" dirty="0">
                          <a:solidFill>
                            <a:srgbClr val="2319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7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DE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7315200" y="534924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8E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ajuste cuadrático gana</a:t>
            </a:r>
            <a:r>
              <a:rPr lang="en-US" sz="1300" dirty="0">
                <a:solidFill>
                  <a:srgbClr val="231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explica el 62,9 % de la varianza del puntaje FIFA.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40112" y="164592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600" b="1" dirty="0">
                <a:solidFill>
                  <a:srgbClr val="F1E2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77724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30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DIFERENCIAL  ·  FIGURA 10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2319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Rendimientos </a:t>
            </a:r>
            <a:r>
              <a:rPr lang="en-US" sz="4000" b="1" dirty="0">
                <a:solidFill>
                  <a:srgbClr val="8E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decrecientes</a:t>
            </a:r>
            <a:endParaRPr lang="en-US" sz="4000" dirty="0"/>
          </a:p>
        </p:txBody>
      </p:sp>
      <p:pic>
        <p:nvPicPr>
          <p:cNvPr id="5" name="Image 0" descr="/mnt/project/segunda_derivada_cuadrati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783080"/>
            <a:ext cx="9567512" cy="32461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" y="50749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6E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Figura 10 · Modelo cuadrático f(x) con su primera y segunda derivada.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777240" y="5212080"/>
            <a:ext cx="10634472" cy="566928"/>
          </a:xfrm>
          <a:prstGeom prst="rect">
            <a:avLst/>
          </a:prstGeom>
          <a:solidFill>
            <a:srgbClr val="FBF7F4"/>
          </a:solidFill>
          <a:ln w="9525">
            <a:solidFill>
              <a:srgbClr val="E7DEDF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8" name="Text 5"/>
          <p:cNvSpPr/>
          <p:nvPr/>
        </p:nvSpPr>
        <p:spPr>
          <a:xfrm>
            <a:off x="960120" y="52120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8E1F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f(x) = −235,37·x² + 612,27·x + 1.439,44      </a:t>
            </a:r>
            <a:r>
              <a:rPr lang="en-US" sz="1350" dirty="0">
                <a:solidFill>
                  <a:srgbClr val="2319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f′(x) = −470,74·x + 612,27      f″(x) = −470,74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77240" y="594360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8E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Vértice  x* ≈ €1,30 B
</a:t>
            </a:r>
            <a:r>
              <a:rPr lang="en-US" sz="1150" dirty="0">
                <a:solidFill>
                  <a:srgbClr val="231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Máximo previsto ≈ 1.838 pts FIFA (f″&lt;0 lo confirma).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361688" y="594360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8E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Umbral de eficiencia
</a:t>
            </a:r>
            <a:r>
              <a:rPr lang="en-US" sz="1150" dirty="0">
                <a:solidFill>
                  <a:srgbClr val="231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del vértice, invertir deja de traducirse en mejoras.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7946136" y="594360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8E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Techo ya alcanzado
</a:t>
            </a:r>
            <a:r>
              <a:rPr lang="en-US" sz="1150" dirty="0">
                <a:solidFill>
                  <a:srgbClr val="231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Francia e Inglaterra operan prácticamente sobre ese límite.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40112" y="164592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600" b="1" dirty="0">
                <a:solidFill>
                  <a:srgbClr val="F1E2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77724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30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RESIDUOS  ·  FIGURA 11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2319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Quién rinde </a:t>
            </a:r>
            <a:r>
              <a:rPr lang="en-US" sz="4000" b="1" dirty="0">
                <a:solidFill>
                  <a:srgbClr val="8E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más</a:t>
            </a:r>
            <a:endParaRPr lang="en-US" sz="4000" dirty="0"/>
          </a:p>
        </p:txBody>
      </p:sp>
      <p:pic>
        <p:nvPicPr>
          <p:cNvPr id="5" name="Image 0" descr="/mnt/project/modelo_cuadratico_vert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874520"/>
            <a:ext cx="6766560" cy="390378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" y="5824025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6E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Figura 11 · Modelo con el vértice y los residuos de los casos más destacados.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7818120" y="182880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SOBRE-RENDIMIENTO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818120" y="2157984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1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Argentina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144000" y="2157984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2E7D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+161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818120" y="254203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1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México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9144000" y="2542032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2E7D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+159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818120" y="292608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1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Irán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9144000" y="2926080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2E7D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+155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818120" y="331012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1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EE. UU.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9144000" y="331012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2E7D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+137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818120" y="3694176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1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Croacia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144000" y="3694176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2E7D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+135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0012680" y="1828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SUB-RENDIMIENTO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10012680" y="215798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1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Ghana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247120" y="2157984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−188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0012680" y="254203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1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Haití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11247120" y="2542032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−171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0012680" y="292608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1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Suecia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247120" y="2926080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−170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10012680" y="33101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1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N. Zelanda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1247120" y="3310128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−168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10012680" y="3694176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31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Curaçao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11247120" y="3694176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−160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7818120" y="4224528"/>
            <a:ext cx="4069080" cy="1828800"/>
          </a:xfrm>
          <a:prstGeom prst="rect">
            <a:avLst/>
          </a:prstGeom>
          <a:solidFill>
            <a:srgbClr val="FBF7F4"/>
          </a:solidFill>
          <a:ln w="9525">
            <a:solidFill>
              <a:srgbClr val="E7DEDF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30" name="Shape 27"/>
          <p:cNvSpPr/>
          <p:nvPr/>
        </p:nvSpPr>
        <p:spPr>
          <a:xfrm>
            <a:off x="7818120" y="4224528"/>
            <a:ext cx="73152" cy="1828800"/>
          </a:xfrm>
          <a:prstGeom prst="rect">
            <a:avLst/>
          </a:prstGeom>
          <a:solidFill>
            <a:srgbClr val="B8862B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31" name="Text 28"/>
          <p:cNvSpPr/>
          <p:nvPr/>
        </p:nvSpPr>
        <p:spPr>
          <a:xfrm>
            <a:off x="8065008" y="4370832"/>
            <a:ext cx="3703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7000"/>
              </a:lnSpc>
              <a:buNone/>
            </a:pPr>
            <a:r>
              <a:rPr lang="en-US" sz="1200" b="1" dirty="0">
                <a:solidFill>
                  <a:srgbClr val="8E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Argentina lidera con +161 </a:t>
            </a:r>
            <a:r>
              <a:rPr lang="en-US" sz="1200" dirty="0">
                <a:solidFill>
                  <a:srgbClr val="231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(plantel de €575 M, el 44 % del de Inglaterra). Pero los mayores residuos negativos también son planteles de valor bajo: cuando la inversión es chica, el valor casi no discrimina y el modelo pierde poder.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7A1A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40112" y="164592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600" b="1" dirty="0">
                <a:solidFill>
                  <a:srgbClr val="9730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77724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300" dirty="0">
                <a:solidFill>
                  <a:srgbClr val="E2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4200" b="1" dirty="0">
                <a:solidFill>
                  <a:srgbClr val="F7EF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</a:t>
            </a:r>
            <a:r>
              <a:rPr lang="en-US" sz="4200" b="1" dirty="0">
                <a:solidFill>
                  <a:srgbClr val="E2B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veredicto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77240" y="182880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EAD8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rendimiento deportivo es independiente de las variables económicas del país: ninguna mostró correlación relevante. Lo que sí importa se reparte en dos hallazgos.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2697480"/>
            <a:ext cx="5120640" cy="2331720"/>
          </a:xfrm>
          <a:prstGeom prst="rect">
            <a:avLst/>
          </a:prstGeom>
          <a:solidFill>
            <a:srgbClr val="6A1530"/>
          </a:solidFill>
          <a:ln w="9525">
            <a:solidFill>
              <a:srgbClr val="9A3651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7" name="Text 5"/>
          <p:cNvSpPr/>
          <p:nvPr/>
        </p:nvSpPr>
        <p:spPr>
          <a:xfrm>
            <a:off x="1051560" y="285292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2B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051560" y="35204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7EF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Valor del plantel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051560" y="3950208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E3CF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Correlación fuerte con el puntaje FIFA (r ≈ 0,76). El mejor ajuste es cuadrático y cóncavo: invertir mejora, pero cada euro adicional aporta menos. Hay un techo de eficiencia cerca de €1,30 B.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08192" y="2697480"/>
            <a:ext cx="5120640" cy="2331720"/>
          </a:xfrm>
          <a:prstGeom prst="rect">
            <a:avLst/>
          </a:prstGeom>
          <a:solidFill>
            <a:srgbClr val="6A1530"/>
          </a:solidFill>
          <a:ln w="9525">
            <a:solidFill>
              <a:srgbClr val="9A3651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1" name="Text 9"/>
          <p:cNvSpPr/>
          <p:nvPr/>
        </p:nvSpPr>
        <p:spPr>
          <a:xfrm>
            <a:off x="6382512" y="285292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2B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382512" y="35204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7EF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Cultura y geografía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382512" y="3950208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E3CF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Continente e idioma se asocian al rendimiento — Sudamérica, Europa y los países hispanohablantes tienen medianas más altas. Probablemente capturan un mismo factor cultural compartido.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77240" y="5257800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E2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síntesis:  </a:t>
            </a:r>
            <a:r>
              <a:rPr lang="en-US" sz="1300" dirty="0">
                <a:solidFill>
                  <a:srgbClr val="F7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rendimiento combina una base relativamente fija —cultural y geográfica— con un componente modificable vía inversión en el plantel, sujeta a rendimientos decrecientes.  </a:t>
            </a:r>
            <a:r>
              <a:rPr lang="en-US" sz="1300" i="1" dirty="0">
                <a:solidFill>
                  <a:srgbClr val="C9AE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Limitación: el modelo explica el 62,9 % de la varianza y pierde poder en el extremo de baja inversión.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40112" y="164592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600" b="1" dirty="0">
                <a:solidFill>
                  <a:srgbClr val="F1E2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77724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300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REFLEXIÓN METODOLÓGICA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2319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Cómo se </a:t>
            </a:r>
            <a:r>
              <a:rPr lang="en-US" sz="4000" b="1" dirty="0">
                <a:solidFill>
                  <a:srgbClr val="8E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hizo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777240" y="1965960"/>
            <a:ext cx="5212080" cy="3383280"/>
          </a:xfrm>
          <a:prstGeom prst="rect">
            <a:avLst/>
          </a:prstGeom>
          <a:solidFill>
            <a:srgbClr val="FBF7F4"/>
          </a:solidFill>
          <a:ln w="12700">
            <a:solidFill>
              <a:srgbClr val="E7DEDF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6" name="Shape 4"/>
          <p:cNvSpPr/>
          <p:nvPr/>
        </p:nvSpPr>
        <p:spPr>
          <a:xfrm>
            <a:off x="777240" y="1965960"/>
            <a:ext cx="5212080" cy="64008"/>
          </a:xfrm>
          <a:prstGeom prst="rect">
            <a:avLst/>
          </a:prstGeom>
          <a:solidFill>
            <a:srgbClr val="8E1F3D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7" name="Text 5"/>
          <p:cNvSpPr/>
          <p:nvPr/>
        </p:nvSpPr>
        <p:spPr>
          <a:xfrm>
            <a:off x="1005840" y="217627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E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PIPELINE DE DATOS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2578608"/>
            <a:ext cx="4754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1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por merge (left join) de los dos datasets.</a:t>
            </a:r>
            <a:endParaRPr lang="en-US" sz="12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1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Normalización de nombres: codificación de Curaçao, homologación de RD Congo, réplica del Reino Unido para Inglaterra y Escocia.</a:t>
            </a:r>
            <a:endParaRPr lang="en-US" sz="12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31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Imputación manual del PBI de Curaçao y cálculo del PBI per cápita.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005840" y="470916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b="1" i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Stack:  </a:t>
            </a:r>
            <a:r>
              <a:rPr lang="en-US" sz="1150" i="1" dirty="0">
                <a:solidFill>
                  <a:srgbClr val="6E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pandas · NumPy · Matplotlib · Seaborn · SciPy · SymPy (Jupyter).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99632" y="1965960"/>
            <a:ext cx="5212080" cy="3383280"/>
          </a:xfrm>
          <a:prstGeom prst="rect">
            <a:avLst/>
          </a:prstGeom>
          <a:solidFill>
            <a:srgbClr val="FBF7F4"/>
          </a:solidFill>
          <a:ln w="12700">
            <a:solidFill>
              <a:srgbClr val="E7DEDF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1" name="Shape 9"/>
          <p:cNvSpPr/>
          <p:nvPr/>
        </p:nvSpPr>
        <p:spPr>
          <a:xfrm>
            <a:off x="6199632" y="1965960"/>
            <a:ext cx="5212080" cy="64008"/>
          </a:xfrm>
          <a:prstGeom prst="rect">
            <a:avLst/>
          </a:prstGeom>
          <a:solidFill>
            <a:srgbClr val="B8862B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2" name="Text 10"/>
          <p:cNvSpPr/>
          <p:nvPr/>
        </p:nvSpPr>
        <p:spPr>
          <a:xfrm>
            <a:off x="6428232" y="217627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E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ROL DE LA IA — Y SU LÍMITE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28232" y="257860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31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asistió en tareas acotadas: sugerir y comparar los modelos, calcular las derivadas con SymPy e interpretar su significado económico.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28232" y="370332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8E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Aprendizaje clave: auditar críticamente. </a:t>
            </a:r>
            <a:r>
              <a:rPr lang="en-US" sz="1250" dirty="0">
                <a:solidFill>
                  <a:srgbClr val="231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sospechar que Argentina era un outlier aislado, la IA reforzó ese sesgo con teorías; al verificarlo con los datos, resultó </a:t>
            </a:r>
            <a:r>
              <a:rPr lang="en-US" sz="1250" b="1" i="1" dirty="0">
                <a:solidFill>
                  <a:srgbClr val="231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r>
              <a:rPr lang="en-US" sz="1250" dirty="0">
                <a:solidFill>
                  <a:srgbClr val="231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serlo.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5806440"/>
            <a:ext cx="10634472" cy="0"/>
          </a:xfrm>
          <a:prstGeom prst="line">
            <a:avLst/>
          </a:prstGeom>
          <a:noFill/>
          <a:ln w="12700">
            <a:solidFill>
              <a:srgbClr val="E7DEDF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6" name="Text 14"/>
          <p:cNvSpPr/>
          <p:nvPr/>
        </p:nvSpPr>
        <p:spPr>
          <a:xfrm>
            <a:off x="777240" y="5989320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8E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github.com/gleo1973/tp-laboratorio-mcag-1c2026</a:t>
            </a:r>
            <a:r>
              <a:rPr lang="en-US" sz="1150" dirty="0">
                <a:solidFill>
                  <a:srgbClr val="6E5E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Gómez · Morichetti · Garibotti  ·  Laboratorio de Métodos Cuantitativos · FCE–UBA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1215</Words>
  <Application>Microsoft Office PowerPoint</Application>
  <PresentationFormat>Widescreen</PresentationFormat>
  <Paragraphs>137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 precio del juego — Mundial 2026</dc:title>
  <dc:subject>PptxGenJS Presentation</dc:subject>
  <dc:creator>Gómez · Morichetti · Garibotti</dc:creator>
  <cp:lastModifiedBy>Carla Garibotti</cp:lastModifiedBy>
  <cp:revision>2</cp:revision>
  <dcterms:created xsi:type="dcterms:W3CDTF">2026-06-09T16:49:26Z</dcterms:created>
  <dcterms:modified xsi:type="dcterms:W3CDTF">2026-06-09T17:02:27Z</dcterms:modified>
</cp:coreProperties>
</file>